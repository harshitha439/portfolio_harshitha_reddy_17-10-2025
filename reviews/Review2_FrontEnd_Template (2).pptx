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5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022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D834E-D72B-4512-B151-57A9CD55F51A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FC6209-2B32-4F07-B341-232466C6D9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566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C6209-2B32-4F07-B341-232466C6D99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05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067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87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708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22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616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96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355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40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998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84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6142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5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3265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53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281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55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-318"/>
            <a:ext cx="1952272" cy="6853571"/>
            <a:chOff x="6627813" y="195220"/>
            <a:chExt cx="1952625" cy="5678531"/>
          </a:xfrm>
          <a:solidFill>
            <a:schemeClr val="accent1"/>
          </a:solidFill>
        </p:grpSpPr>
        <p:sp>
          <p:nvSpPr>
            <p:cNvPr id="50" name="Freeform 27"/>
            <p:cNvSpPr/>
            <p:nvPr/>
          </p:nvSpPr>
          <p:spPr bwMode="auto">
            <a:xfrm>
              <a:off x="6627813" y="19522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605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  <p:sldLayoutId id="2147483870" r:id="rId15"/>
    <p:sldLayoutId id="214748387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5.0383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miriamudefi/building-a-book-recommendation-system-based-on-content-based-filtering-using-tf-idf-vectorizer-a13cd2a92b6d" TargetMode="External"/><Relationship Id="rId5" Type="http://schemas.openxmlformats.org/officeDocument/2006/relationships/hyperlink" Target="https://arxiv.org/abs/2202.13446" TargetMode="External"/><Relationship Id="rId4" Type="http://schemas.openxmlformats.org/officeDocument/2006/relationships/hyperlink" Target="https://arxiv.org/abs/2410.15656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1774" y="557982"/>
            <a:ext cx="6600451" cy="2262781"/>
          </a:xfrm>
        </p:spPr>
        <p:txBody>
          <a:bodyPr>
            <a:normAutofit fontScale="90000"/>
          </a:bodyPr>
          <a:lstStyle/>
          <a:p>
            <a:r>
              <a:rPr dirty="0"/>
              <a:t>Project Review-2</a:t>
            </a:r>
          </a:p>
          <a:p>
            <a:r>
              <a:rPr dirty="0"/>
              <a:t>(Literature Review / Applications Survey)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9293" y="3038168"/>
            <a:ext cx="6600451" cy="999070"/>
          </a:xfrm>
        </p:spPr>
        <p:txBody>
          <a:bodyPr>
            <a:noAutofit/>
          </a:bodyPr>
          <a:lstStyle/>
          <a:p>
            <a:r>
              <a:rPr sz="1400" dirty="0"/>
              <a:t>Front-End Development Frameworks </a:t>
            </a:r>
            <a:endParaRPr lang="en-IN" sz="1400" dirty="0"/>
          </a:p>
          <a:p>
            <a:r>
              <a:rPr sz="1400" dirty="0"/>
              <a:t>Project Title </a:t>
            </a:r>
            <a:r>
              <a:rPr lang="en-IN" sz="1400" dirty="0"/>
              <a:t>: Book Recommendation app with genre filters </a:t>
            </a:r>
            <a:r>
              <a:rPr sz="1400" dirty="0"/>
              <a:t>  </a:t>
            </a:r>
            <a:endParaRPr lang="en-IN" sz="1400" dirty="0"/>
          </a:p>
          <a:p>
            <a:r>
              <a:rPr lang="en-IN" sz="1400" dirty="0"/>
              <a:t>2410030258-Alekhya Reddy</a:t>
            </a:r>
          </a:p>
          <a:p>
            <a:r>
              <a:rPr lang="en-IN" sz="1400" dirty="0"/>
              <a:t>2410030266-Harshitha Reddy </a:t>
            </a:r>
          </a:p>
          <a:p>
            <a:r>
              <a:rPr lang="en-IN" sz="1400" dirty="0"/>
              <a:t>2410030259-Bhavya Praneetha</a:t>
            </a:r>
          </a:p>
          <a:p>
            <a:r>
              <a:rPr sz="1400" dirty="0"/>
              <a:t> Department</a:t>
            </a:r>
            <a:r>
              <a:rPr lang="en-IN" sz="1400" dirty="0"/>
              <a:t>: CSE</a:t>
            </a:r>
            <a:endParaRPr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E028E9-EF99-BBA6-27C5-1E1A9F1B2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748" y="5457824"/>
            <a:ext cx="3883842" cy="11957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oup of books on a green background&#10;&#10;AI-generated content may be incorrect.">
            <a:extLst>
              <a:ext uri="{FF2B5EF4-FFF2-40B4-BE49-F238E27FC236}">
                <a16:creationId xmlns:a16="http://schemas.microsoft.com/office/drawing/2014/main" id="{DB1728E2-D2DA-5B91-6F54-C9DA16B473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20" y="0"/>
            <a:ext cx="9143980" cy="6857990"/>
          </a:xfrm>
          <a:prstGeom prst="rect">
            <a:avLst/>
          </a:prstGeom>
        </p:spPr>
      </p:pic>
      <p:sp>
        <p:nvSpPr>
          <p:cNvPr id="53" name="Freeform 5">
            <a:extLst>
              <a:ext uri="{FF2B5EF4-FFF2-40B4-BE49-F238E27FC236}">
                <a16:creationId xmlns:a16="http://schemas.microsoft.com/office/drawing/2014/main" id="{813C4879-31DC-4174-B5FC-778884C3F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7793831" cy="6858000"/>
          </a:xfrm>
          <a:custGeom>
            <a:avLst/>
            <a:gdLst>
              <a:gd name="T0" fmla="*/ 0 w 2184"/>
              <a:gd name="T1" fmla="*/ 1441 h 1441"/>
              <a:gd name="T2" fmla="*/ 1482 w 2184"/>
              <a:gd name="T3" fmla="*/ 1441 h 1441"/>
              <a:gd name="T4" fmla="*/ 2161 w 2184"/>
              <a:gd name="T5" fmla="*/ 762 h 1441"/>
              <a:gd name="T6" fmla="*/ 2161 w 2184"/>
              <a:gd name="T7" fmla="*/ 678 h 1441"/>
              <a:gd name="T8" fmla="*/ 1483 w 2184"/>
              <a:gd name="T9" fmla="*/ 0 h 1441"/>
              <a:gd name="T10" fmla="*/ 0 w 2184"/>
              <a:gd name="T11" fmla="*/ 0 h 1441"/>
              <a:gd name="T12" fmla="*/ 0 w 2184"/>
              <a:gd name="T13" fmla="*/ 1441 h 1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84" h="1441">
                <a:moveTo>
                  <a:pt x="0" y="1441"/>
                </a:moveTo>
                <a:cubicBezTo>
                  <a:pt x="1482" y="1441"/>
                  <a:pt x="1482" y="1441"/>
                  <a:pt x="1482" y="1441"/>
                </a:cubicBezTo>
                <a:cubicBezTo>
                  <a:pt x="2161" y="762"/>
                  <a:pt x="2161" y="762"/>
                  <a:pt x="2161" y="762"/>
                </a:cubicBezTo>
                <a:cubicBezTo>
                  <a:pt x="2184" y="739"/>
                  <a:pt x="2184" y="701"/>
                  <a:pt x="2161" y="678"/>
                </a:cubicBezTo>
                <a:cubicBezTo>
                  <a:pt x="1483" y="0"/>
                  <a:pt x="1483" y="0"/>
                  <a:pt x="1483" y="0"/>
                </a:cubicBezTo>
                <a:cubicBezTo>
                  <a:pt x="0" y="0"/>
                  <a:pt x="0" y="0"/>
                  <a:pt x="0" y="0"/>
                </a:cubicBezTo>
                <a:lnTo>
                  <a:pt x="0" y="1441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" y="-255639"/>
            <a:ext cx="5619750" cy="1671484"/>
          </a:xfrm>
        </p:spPr>
        <p:txBody>
          <a:bodyPr anchor="ctr">
            <a:normAutofit/>
          </a:bodyPr>
          <a:lstStyle/>
          <a:p>
            <a:r>
              <a:rPr lang="en-IN" sz="3200" b="1" dirty="0">
                <a:solidFill>
                  <a:srgbClr val="FEFFFF"/>
                </a:solidFill>
              </a:rPr>
              <a:t>Relevance to 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50" y="1022556"/>
            <a:ext cx="5892801" cy="4921044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1600" b="1" dirty="0">
              <a:solidFill>
                <a:srgbClr val="FE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>
                <a:solidFill>
                  <a:srgbClr val="FEFFFF"/>
                </a:solidFill>
              </a:rPr>
              <a:t>A front-end framework is important because it saves time, improves performance, ensures consistency, and makes apps easier to scale and maintain.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>
                <a:solidFill>
                  <a:srgbClr val="FEFFFF"/>
                </a:solidFill>
              </a:rPr>
              <a:t>From the research we read, it’s clear that apps work better when they have quick, responsive designs and easy-to-use features. Good frameworks help make that possible. The studies also showed that when users can quickly filter and explore, they enjoy using the app more — exactly what we want for our project</a:t>
            </a:r>
            <a:r>
              <a:rPr lang="en-US" sz="1600" dirty="0">
                <a:solidFill>
                  <a:srgbClr val="FEFFFF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195" y="95512"/>
            <a:ext cx="7256206" cy="1261340"/>
          </a:xfrm>
        </p:spPr>
        <p:txBody>
          <a:bodyPr>
            <a:normAutofit/>
          </a:bodyPr>
          <a:lstStyle/>
          <a:p>
            <a:r>
              <a:rPr lang="en-US" dirty="0"/>
              <a:t>Depth &amp; Quality of Literature Review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0938FEA-7768-4977-A20B-B3FFEECE1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270073"/>
              </p:ext>
            </p:extLst>
          </p:nvPr>
        </p:nvGraphicFramePr>
        <p:xfrm>
          <a:off x="275632" y="1268361"/>
          <a:ext cx="8797249" cy="5739631"/>
        </p:xfrm>
        <a:graphic>
          <a:graphicData uri="http://schemas.openxmlformats.org/drawingml/2006/table">
            <a:tbl>
              <a:tblPr/>
              <a:tblGrid>
                <a:gridCol w="1465917">
                  <a:extLst>
                    <a:ext uri="{9D8B030D-6E8A-4147-A177-3AD203B41FA5}">
                      <a16:colId xmlns:a16="http://schemas.microsoft.com/office/drawing/2014/main" val="4285637503"/>
                    </a:ext>
                  </a:extLst>
                </a:gridCol>
                <a:gridCol w="1832833">
                  <a:extLst>
                    <a:ext uri="{9D8B030D-6E8A-4147-A177-3AD203B41FA5}">
                      <a16:colId xmlns:a16="http://schemas.microsoft.com/office/drawing/2014/main" val="4204689931"/>
                    </a:ext>
                  </a:extLst>
                </a:gridCol>
                <a:gridCol w="1832833">
                  <a:extLst>
                    <a:ext uri="{9D8B030D-6E8A-4147-A177-3AD203B41FA5}">
                      <a16:colId xmlns:a16="http://schemas.microsoft.com/office/drawing/2014/main" val="357523652"/>
                    </a:ext>
                  </a:extLst>
                </a:gridCol>
                <a:gridCol w="2314385">
                  <a:extLst>
                    <a:ext uri="{9D8B030D-6E8A-4147-A177-3AD203B41FA5}">
                      <a16:colId xmlns:a16="http://schemas.microsoft.com/office/drawing/2014/main" val="3760326007"/>
                    </a:ext>
                  </a:extLst>
                </a:gridCol>
                <a:gridCol w="1351281">
                  <a:extLst>
                    <a:ext uri="{9D8B030D-6E8A-4147-A177-3AD203B41FA5}">
                      <a16:colId xmlns:a16="http://schemas.microsoft.com/office/drawing/2014/main" val="799899852"/>
                    </a:ext>
                  </a:extLst>
                </a:gridCol>
              </a:tblGrid>
              <a:tr h="408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Year</a:t>
                      </a:r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Title / Authors</a:t>
                      </a:r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What It Shows </a:t>
                      </a:r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Why It Helps Our App</a:t>
                      </a:r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Link</a:t>
                      </a:r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203628"/>
                  </a:ext>
                </a:extLst>
              </a:tr>
              <a:tr h="1034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2025</a:t>
                      </a:r>
                      <a:endParaRPr lang="en-IN" sz="1400" dirty="0"/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i="1" dirty="0"/>
                        <a:t>IMAGINE: Multi-Modal Genre Identification</a:t>
                      </a:r>
                      <a:endParaRPr lang="en-IN" sz="1400" dirty="0"/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Uses book text + cover + metadata to detect genres, even with missing data.</a:t>
                      </a:r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Helps improve genre filters and makes recommendations more accurate.</a:t>
                      </a:r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hlinkClick r:id="rId3"/>
                        </a:rPr>
                        <a:t>https://arxiv.org/abs/2505.03839</a:t>
                      </a:r>
                      <a:endParaRPr lang="en-IN" sz="1400" dirty="0"/>
                    </a:p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159892"/>
                  </a:ext>
                </a:extLst>
              </a:tr>
              <a:tr h="1041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2024</a:t>
                      </a:r>
                      <a:endParaRPr lang="en-IN" sz="1400"/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i="1"/>
                        <a:t>LightFusionRec: Lightweight Transformers-Based Rec</a:t>
                      </a:r>
                      <a:endParaRPr lang="en-IN" sz="1400"/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Combines text and genre info in a lightweight way for fast recommendations.</a:t>
                      </a:r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Shows how to make our app quick and efficient with less lag.</a:t>
                      </a:r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hlinkClick r:id="rId4"/>
                        </a:rPr>
                        <a:t>https://arxiv.org/abs/2410.15656</a:t>
                      </a:r>
                      <a:endParaRPr lang="en-IN" sz="1400" dirty="0"/>
                    </a:p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35603"/>
                  </a:ext>
                </a:extLst>
              </a:tr>
              <a:tr h="881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2022</a:t>
                      </a:r>
                      <a:endParaRPr lang="en-IN" sz="1400"/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i="1"/>
                        <a:t>The Unfairness of Popularity Bias in Book Recommendation</a:t>
                      </a:r>
                      <a:endParaRPr lang="en-US" sz="1400"/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Finds that popular books are shown too much, niche books too little.</a:t>
                      </a:r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Explains why filters matter for showing diverse books, not just bestsellers.</a:t>
                      </a:r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hlinkClick r:id="rId5"/>
                        </a:rPr>
                        <a:t>https://arxiv.org/abs/2202.13446</a:t>
                      </a:r>
                      <a:endParaRPr lang="en-IN" sz="1400" dirty="0"/>
                    </a:p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415240"/>
                  </a:ext>
                </a:extLst>
              </a:tr>
              <a:tr h="2127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2023</a:t>
                      </a:r>
                      <a:endParaRPr lang="en-IN" sz="1400" dirty="0"/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Bookish reads: Content-Based Book Recommendation</a:t>
                      </a:r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 Medium project where users get recommendations based on genre + title input, focusing on genre-based discovery.</a:t>
                      </a:r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Bookish Reads is useful because it shows how to use TF-IDF to suggest books by genre and title, which is the same idea as your app</a:t>
                      </a:r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linkClick r:id="rId6"/>
                        </a:rPr>
                        <a:t>https://medium.com/@miriamudefi/building-a-book-recommendation-system-based-on-content-based-filtering-using-tf-idf-vectorizer-a13cd2a92b6d</a:t>
                      </a:r>
                      <a:endParaRPr lang="en-IN" sz="1200" dirty="0"/>
                    </a:p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29666" marR="29666" marT="14833" marB="14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9847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books on a green background&#10;&#10;AI-generated content may be incorrect.">
            <a:extLst>
              <a:ext uri="{FF2B5EF4-FFF2-40B4-BE49-F238E27FC236}">
                <a16:creationId xmlns:a16="http://schemas.microsoft.com/office/drawing/2014/main" id="{FEB5421B-35C1-CD70-666B-7C84B447F8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50" name="Freeform 5">
            <a:extLst>
              <a:ext uri="{FF2B5EF4-FFF2-40B4-BE49-F238E27FC236}">
                <a16:creationId xmlns:a16="http://schemas.microsoft.com/office/drawing/2014/main" id="{813C4879-31DC-4174-B5FC-778884C3F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7793831" cy="6858000"/>
          </a:xfrm>
          <a:custGeom>
            <a:avLst/>
            <a:gdLst>
              <a:gd name="T0" fmla="*/ 0 w 2184"/>
              <a:gd name="T1" fmla="*/ 1441 h 1441"/>
              <a:gd name="T2" fmla="*/ 1482 w 2184"/>
              <a:gd name="T3" fmla="*/ 1441 h 1441"/>
              <a:gd name="T4" fmla="*/ 2161 w 2184"/>
              <a:gd name="T5" fmla="*/ 762 h 1441"/>
              <a:gd name="T6" fmla="*/ 2161 w 2184"/>
              <a:gd name="T7" fmla="*/ 678 h 1441"/>
              <a:gd name="T8" fmla="*/ 1483 w 2184"/>
              <a:gd name="T9" fmla="*/ 0 h 1441"/>
              <a:gd name="T10" fmla="*/ 0 w 2184"/>
              <a:gd name="T11" fmla="*/ 0 h 1441"/>
              <a:gd name="T12" fmla="*/ 0 w 2184"/>
              <a:gd name="T13" fmla="*/ 1441 h 1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84" h="1441">
                <a:moveTo>
                  <a:pt x="0" y="1441"/>
                </a:moveTo>
                <a:cubicBezTo>
                  <a:pt x="1482" y="1441"/>
                  <a:pt x="1482" y="1441"/>
                  <a:pt x="1482" y="1441"/>
                </a:cubicBezTo>
                <a:cubicBezTo>
                  <a:pt x="2161" y="762"/>
                  <a:pt x="2161" y="762"/>
                  <a:pt x="2161" y="762"/>
                </a:cubicBezTo>
                <a:cubicBezTo>
                  <a:pt x="2184" y="739"/>
                  <a:pt x="2184" y="701"/>
                  <a:pt x="2161" y="678"/>
                </a:cubicBezTo>
                <a:cubicBezTo>
                  <a:pt x="1483" y="0"/>
                  <a:pt x="1483" y="0"/>
                  <a:pt x="1483" y="0"/>
                </a:cubicBezTo>
                <a:cubicBezTo>
                  <a:pt x="0" y="0"/>
                  <a:pt x="0" y="0"/>
                  <a:pt x="0" y="0"/>
                </a:cubicBezTo>
                <a:lnTo>
                  <a:pt x="0" y="1441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59" y="-334297"/>
            <a:ext cx="5674442" cy="1917291"/>
          </a:xfrm>
        </p:spPr>
        <p:txBody>
          <a:bodyPr anchor="ctr">
            <a:normAutofit/>
          </a:bodyPr>
          <a:lstStyle/>
          <a:p>
            <a:r>
              <a:rPr lang="en-IN" sz="3200" b="1" dirty="0">
                <a:solidFill>
                  <a:srgbClr val="FEFFFF"/>
                </a:solidFill>
              </a:rPr>
              <a:t>Critical Analysis, Synthesis &amp; Gap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58" y="1327356"/>
            <a:ext cx="5947493" cy="5152102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1400" b="1" dirty="0">
              <a:solidFill>
                <a:srgbClr val="FEFFFF"/>
              </a:solidFill>
            </a:endParaRP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sz="1600" dirty="0">
                <a:solidFill>
                  <a:srgbClr val="FEFFFF"/>
                </a:solidFill>
              </a:rPr>
              <a:t>Current book recommendation systems (e.g., Goodreads, Amazon) provide personalized suggestions and allow users to explore books by popularity or ratings.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b="1" dirty="0">
              <a:solidFill>
                <a:srgbClr val="FEFFFF"/>
              </a:solidFill>
            </a:endParaRP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sz="1600" dirty="0">
                <a:solidFill>
                  <a:srgbClr val="FEFFFF"/>
                </a:solidFill>
              </a:rPr>
              <a:t>Many apps focus mainly on ratings and popularity rather than genre-based filtering for quick discovery.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sz="1600" dirty="0">
                <a:solidFill>
                  <a:srgbClr val="FEFFFF"/>
                </a:solidFill>
              </a:rPr>
              <a:t>Some platforms have complex UIs, which can reduce ease of use, especially for new users.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sz="1600" dirty="0">
                <a:solidFill>
                  <a:srgbClr val="FEFFFF"/>
                </a:solidFill>
              </a:rPr>
              <a:t>Performance issues occur in large datasets, leading to slower loading or navigation</a:t>
            </a:r>
            <a:endParaRPr lang="en-US" sz="1600" b="1" dirty="0">
              <a:solidFill>
                <a:srgbClr val="FEFFFF"/>
              </a:solidFill>
            </a:endParaRPr>
          </a:p>
          <a:p>
            <a:pPr>
              <a:lnSpc>
                <a:spcPct val="90000"/>
              </a:lnSpc>
              <a:buFontTx/>
              <a:buChar char="-"/>
            </a:pPr>
            <a:endParaRPr lang="en-US" sz="1600" b="1" dirty="0">
              <a:solidFill>
                <a:srgbClr val="FEFFFF"/>
              </a:solidFill>
            </a:endParaRP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sz="1600" dirty="0">
                <a:solidFill>
                  <a:srgbClr val="FEFFFF"/>
                </a:solidFill>
              </a:rPr>
              <a:t>This project aims to build a simple, user-friendly book recommendation app that emphasizes real-time genre filtering for faster book discovery.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EFFFF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 descr="A group of books on a green background&#10;&#10;AI-generated content may be incorrect.">
            <a:extLst>
              <a:ext uri="{FF2B5EF4-FFF2-40B4-BE49-F238E27FC236}">
                <a16:creationId xmlns:a16="http://schemas.microsoft.com/office/drawing/2014/main" id="{FB6C436A-E325-0846-8A67-49DE44C534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1" name="Freeform 5">
            <a:extLst>
              <a:ext uri="{FF2B5EF4-FFF2-40B4-BE49-F238E27FC236}">
                <a16:creationId xmlns:a16="http://schemas.microsoft.com/office/drawing/2014/main" id="{813C4879-31DC-4174-B5FC-778884C3F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7793831" cy="6858000"/>
          </a:xfrm>
          <a:custGeom>
            <a:avLst/>
            <a:gdLst>
              <a:gd name="T0" fmla="*/ 0 w 2184"/>
              <a:gd name="T1" fmla="*/ 1441 h 1441"/>
              <a:gd name="T2" fmla="*/ 1482 w 2184"/>
              <a:gd name="T3" fmla="*/ 1441 h 1441"/>
              <a:gd name="T4" fmla="*/ 2161 w 2184"/>
              <a:gd name="T5" fmla="*/ 762 h 1441"/>
              <a:gd name="T6" fmla="*/ 2161 w 2184"/>
              <a:gd name="T7" fmla="*/ 678 h 1441"/>
              <a:gd name="T8" fmla="*/ 1483 w 2184"/>
              <a:gd name="T9" fmla="*/ 0 h 1441"/>
              <a:gd name="T10" fmla="*/ 0 w 2184"/>
              <a:gd name="T11" fmla="*/ 0 h 1441"/>
              <a:gd name="T12" fmla="*/ 0 w 2184"/>
              <a:gd name="T13" fmla="*/ 1441 h 1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84" h="1441">
                <a:moveTo>
                  <a:pt x="0" y="1441"/>
                </a:moveTo>
                <a:cubicBezTo>
                  <a:pt x="1482" y="1441"/>
                  <a:pt x="1482" y="1441"/>
                  <a:pt x="1482" y="1441"/>
                </a:cubicBezTo>
                <a:cubicBezTo>
                  <a:pt x="2161" y="762"/>
                  <a:pt x="2161" y="762"/>
                  <a:pt x="2161" y="762"/>
                </a:cubicBezTo>
                <a:cubicBezTo>
                  <a:pt x="2184" y="739"/>
                  <a:pt x="2184" y="701"/>
                  <a:pt x="2161" y="678"/>
                </a:cubicBezTo>
                <a:cubicBezTo>
                  <a:pt x="1483" y="0"/>
                  <a:pt x="1483" y="0"/>
                  <a:pt x="1483" y="0"/>
                </a:cubicBezTo>
                <a:cubicBezTo>
                  <a:pt x="0" y="0"/>
                  <a:pt x="0" y="0"/>
                  <a:pt x="0" y="0"/>
                </a:cubicBezTo>
                <a:lnTo>
                  <a:pt x="0" y="1441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8323"/>
            <a:ext cx="5753100" cy="2003324"/>
          </a:xfrm>
        </p:spPr>
        <p:txBody>
          <a:bodyPr anchor="ctr">
            <a:normAutofit/>
          </a:bodyPr>
          <a:lstStyle/>
          <a:p>
            <a:r>
              <a:rPr lang="en-IN" sz="3200" b="1" dirty="0">
                <a:solidFill>
                  <a:srgbClr val="FEFFFF"/>
                </a:solidFill>
              </a:rPr>
              <a:t>Project</a:t>
            </a:r>
            <a:r>
              <a:rPr lang="en-IN" sz="3200" dirty="0">
                <a:solidFill>
                  <a:srgbClr val="FEFFFF"/>
                </a:solidFill>
              </a:rPr>
              <a:t> </a:t>
            </a:r>
            <a:r>
              <a:rPr lang="en-IN" sz="3200" b="1" dirty="0">
                <a:solidFill>
                  <a:srgbClr val="FEFFFF"/>
                </a:solidFill>
              </a:rPr>
              <a:t>Implementation</a:t>
            </a:r>
            <a:r>
              <a:rPr lang="en-IN" sz="3200" dirty="0">
                <a:solidFill>
                  <a:srgbClr val="FEFFFF"/>
                </a:solidFill>
              </a:rPr>
              <a:t> </a:t>
            </a:r>
            <a:r>
              <a:rPr lang="en-IN" sz="3200" b="1" dirty="0">
                <a:solidFill>
                  <a:srgbClr val="FEFFFF"/>
                </a:solidFill>
              </a:rPr>
              <a:t>Started</a:t>
            </a:r>
          </a:p>
        </p:txBody>
      </p:sp>
      <p:pic>
        <p:nvPicPr>
          <p:cNvPr id="12" name="Content Placeholder 11" descr="A screenshot of a book store&#10;&#10;AI-generated content may be incorrect.">
            <a:extLst>
              <a:ext uri="{FF2B5EF4-FFF2-40B4-BE49-F238E27FC236}">
                <a16:creationId xmlns:a16="http://schemas.microsoft.com/office/drawing/2014/main" id="{BAFDAFAE-CA79-8F8D-7D2C-BC0D493C2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3219" y="1836631"/>
            <a:ext cx="6399711" cy="3184737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books on a green background&#10;&#10;AI-generated content may be incorrect.">
            <a:extLst>
              <a:ext uri="{FF2B5EF4-FFF2-40B4-BE49-F238E27FC236}">
                <a16:creationId xmlns:a16="http://schemas.microsoft.com/office/drawing/2014/main" id="{AD3D92D0-8A4B-818C-B06F-3D5E072129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85" name="Freeform 5">
            <a:extLst>
              <a:ext uri="{FF2B5EF4-FFF2-40B4-BE49-F238E27FC236}">
                <a16:creationId xmlns:a16="http://schemas.microsoft.com/office/drawing/2014/main" id="{813C4879-31DC-4174-B5FC-778884C3F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7793831" cy="6858000"/>
          </a:xfrm>
          <a:custGeom>
            <a:avLst/>
            <a:gdLst>
              <a:gd name="T0" fmla="*/ 0 w 2184"/>
              <a:gd name="T1" fmla="*/ 1441 h 1441"/>
              <a:gd name="T2" fmla="*/ 1482 w 2184"/>
              <a:gd name="T3" fmla="*/ 1441 h 1441"/>
              <a:gd name="T4" fmla="*/ 2161 w 2184"/>
              <a:gd name="T5" fmla="*/ 762 h 1441"/>
              <a:gd name="T6" fmla="*/ 2161 w 2184"/>
              <a:gd name="T7" fmla="*/ 678 h 1441"/>
              <a:gd name="T8" fmla="*/ 1483 w 2184"/>
              <a:gd name="T9" fmla="*/ 0 h 1441"/>
              <a:gd name="T10" fmla="*/ 0 w 2184"/>
              <a:gd name="T11" fmla="*/ 0 h 1441"/>
              <a:gd name="T12" fmla="*/ 0 w 2184"/>
              <a:gd name="T13" fmla="*/ 1441 h 1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84" h="1441">
                <a:moveTo>
                  <a:pt x="0" y="1441"/>
                </a:moveTo>
                <a:cubicBezTo>
                  <a:pt x="1482" y="1441"/>
                  <a:pt x="1482" y="1441"/>
                  <a:pt x="1482" y="1441"/>
                </a:cubicBezTo>
                <a:cubicBezTo>
                  <a:pt x="2161" y="762"/>
                  <a:pt x="2161" y="762"/>
                  <a:pt x="2161" y="762"/>
                </a:cubicBezTo>
                <a:cubicBezTo>
                  <a:pt x="2184" y="739"/>
                  <a:pt x="2184" y="701"/>
                  <a:pt x="2161" y="678"/>
                </a:cubicBezTo>
                <a:cubicBezTo>
                  <a:pt x="1483" y="0"/>
                  <a:pt x="1483" y="0"/>
                  <a:pt x="1483" y="0"/>
                </a:cubicBezTo>
                <a:cubicBezTo>
                  <a:pt x="0" y="0"/>
                  <a:pt x="0" y="0"/>
                  <a:pt x="0" y="0"/>
                </a:cubicBezTo>
                <a:lnTo>
                  <a:pt x="0" y="1441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60716-EF06-E3E7-404D-F4DF7DD19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1" y="2133599"/>
            <a:ext cx="5619750" cy="38099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rgbClr val="FEFFF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EFFF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EFFFF"/>
              </a:solidFill>
            </a:endParaRPr>
          </a:p>
          <a:p>
            <a:pPr marL="0" indent="0">
              <a:buNone/>
            </a:pPr>
            <a:r>
              <a:rPr lang="en-US" sz="4800" b="1" dirty="0">
                <a:solidFill>
                  <a:srgbClr val="FEFFFF"/>
                </a:solidFill>
              </a:rPr>
              <a:t>THANK YOU</a:t>
            </a:r>
            <a:endParaRPr lang="en-IN" sz="4800" b="1" dirty="0">
              <a:solidFill>
                <a:srgbClr val="FE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FE8C0-86FD-C16F-6F31-281601F300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92" y="5938811"/>
            <a:ext cx="2710425" cy="83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23200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711</TotalTime>
  <Words>436</Words>
  <Application>Microsoft Office PowerPoint</Application>
  <PresentationFormat>On-screen Show (4:3)</PresentationFormat>
  <Paragraphs>54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Century Gothic</vt:lpstr>
      <vt:lpstr>Wingdings 3</vt:lpstr>
      <vt:lpstr>Wisp</vt:lpstr>
      <vt:lpstr>Project Review-2 (Literature Review / Applications Survey)</vt:lpstr>
      <vt:lpstr>Relevance to Project Title</vt:lpstr>
      <vt:lpstr>Depth &amp; Quality of Literature Review</vt:lpstr>
      <vt:lpstr>Critical Analysis, Synthesis &amp; Gap Identification</vt:lpstr>
      <vt:lpstr>Project Implementation Started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Sree Lakshmi P</dc:creator>
  <cp:keywords/>
  <dc:description>generated using python-pptx</dc:description>
  <cp:lastModifiedBy>MASANGARI HARSHITHA .</cp:lastModifiedBy>
  <cp:revision>11</cp:revision>
  <dcterms:created xsi:type="dcterms:W3CDTF">2013-01-27T09:14:16Z</dcterms:created>
  <dcterms:modified xsi:type="dcterms:W3CDTF">2025-08-20T07:49:42Z</dcterms:modified>
  <cp:category/>
</cp:coreProperties>
</file>